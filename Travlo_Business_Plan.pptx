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0D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C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8A9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703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International
Tourists</c:v>
                  </c:pt>
                  <c:pt idx="1">
                    <c:v>Domestic
Travelers</c:v>
                  </c:pt>
                  <c:pt idx="2">
                    <c:v>Hotels &amp;
Resorts</c:v>
                  </c:pt>
                  <c:pt idx="3">
                    <c:v>Tour
Operators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7800</c:v>
                </c:pt>
                <c:pt idx="1">
                  <c:v>22000</c:v>
                </c:pt>
                <c:pt idx="2">
                  <c:v>55000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3180</c:v>
                </c:pt>
                <c:pt idx="1">
                  <c:v>5000</c:v>
                </c:pt>
                <c:pt idx="2">
                  <c:v>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3108960"/>
            <a:ext cx="3291840" cy="2034540"/>
          </a:xfrm>
          <a:prstGeom prst="rect">
            <a:avLst/>
          </a:prstGeom>
          <a:solidFill>
            <a:srgbClr val="0A4A50"/>
          </a:solidFill>
          <a:ln w="12700">
            <a:solidFill>
              <a:srgbClr val="0A4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94360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TRAVLO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Voice Tourism Guide for Oman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487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 Travel Companion — Powered by Local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3657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Technical Director: Solo Project   |   June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56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travlo.om  ·  Hosted in Oman  ·  Next.js + Ollama AI  ·  Domain via Oman TRA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1920240" cy="123444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46320" y="16184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Arrivals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2023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0" y="868680"/>
            <a:ext cx="192024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949440" y="16184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Tourism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(NCSI)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194560"/>
            <a:ext cx="1920240" cy="123444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OMR 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(local LLM)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2194560"/>
            <a:ext cx="1920240" cy="1234440"/>
          </a:xfrm>
          <a:prstGeom prst="rect">
            <a:avLst/>
          </a:prstGeom>
          <a:solidFill>
            <a:srgbClr val="9A7030"/>
          </a:solidFill>
          <a:ln w="12700">
            <a:solidFill>
              <a:srgbClr val="9A7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944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Vision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868680"/>
            <a:ext cx="4297680" cy="123444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121615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in Oman lack a smart, voice-enabled, privacy-safe guide. Existing solutions rely on foreign cloud APIs, offer no Arabic-first UX, and expose user data to third parties.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194560"/>
            <a:ext cx="4297680" cy="1234440"/>
          </a:xfrm>
          <a:prstGeom prst="rect">
            <a:avLst/>
          </a:prstGeom>
          <a:solidFill>
            <a:srgbClr val="FFFBF0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254203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Travlo — offline-capable AI assistant supporting Arabic &amp; English voice/text. Powered by local Ollama/Qwen2.5 LLM. Zero cloud dependency. Fully hosted in Oman.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29768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584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" y="386791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web app + B2B licensing to hotels &amp; tourism operators in Oman. Revenue through subscriptions (OMR 2–5/day tourists) and white-label hotel deals (OMR 150–300/mo).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782312"/>
            <a:ext cx="8503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Oman Vision 2040 — Tourism as a key pillar for national economic diversification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Mission · Goals &amp; Objectives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77724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89611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become Oman's leading AI-powered tourism intelligence platform by 2028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8503920" cy="77724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81051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empower every tourist in Oman with instant, private, multilingual AI guidance — anytime, anywhere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2770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2697480" cy="182880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54680"/>
            <a:ext cx="2697480" cy="32004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 (Year 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50215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MVP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active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3 hotels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travlo.om domain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154680"/>
            <a:ext cx="2697480" cy="182880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154680"/>
            <a:ext cx="269748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 (Year 2–3)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50215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5,000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Oman tourism portals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10+ hotels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UI/UX &amp; marketing support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154680"/>
            <a:ext cx="2697480" cy="182880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3154680"/>
            <a:ext cx="2697480" cy="32004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(Year 4–5)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350215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to Gulf tourism 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regional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UAE &amp; Saudi Arabia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funding round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206240" cy="20116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= zero API costs, full data privacy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Arabic/English voice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after initial setup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infrastructure cost (Docker, self-hosted)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06240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 WEAKNESSES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3258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 — limited bandwidth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— no brand recognition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accuracy depends on training 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marketing budget initially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971800"/>
            <a:ext cx="4206240" cy="201168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 OPPORTUNITIES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4290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tourism grew 13% YoY (NCSI 2023)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push for digital tourism (Vision 2040)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local AI tourism competitor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privacy-first tech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206240" cy="2011680"/>
          </a:xfrm>
          <a:prstGeom prst="rect">
            <a:avLst/>
          </a:prstGeom>
          <a:solidFill>
            <a:srgbClr val="9A7030"/>
          </a:solidFill>
          <a:ln w="12700">
            <a:solidFill>
              <a:srgbClr val="9A7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 THREATS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4290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TripAdvisor, ChatGPT entering travel 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tech with bigger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initial marketing budget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vs. GPT-4 perception gap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868680"/>
            <a:ext cx="12801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816352"/>
            <a:ext cx="86410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 &amp; Target 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240280" cy="141732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arrivals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Oman (2023)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868680"/>
            <a:ext cx="2240280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91440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43200" y="16276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2030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(Min. Heritage &amp; Tourism)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120640" y="841248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2834640"/>
            <a:ext cx="2057400" cy="182880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834640"/>
            <a:ext cx="2057400" cy="34747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8346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2834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218688"/>
            <a:ext cx="1874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&amp; Western visitors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guide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14600" y="2834640"/>
            <a:ext cx="2057400" cy="182880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14600" y="2834640"/>
            <a:ext cx="2057400" cy="347472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0" y="28346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880360" y="2834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606040" y="3218688"/>
            <a:ext cx="1874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Omani nationals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UI preference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09160" y="2834640"/>
            <a:ext cx="2057400" cy="182880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2834640"/>
            <a:ext cx="20574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28346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74920" y="2834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00600" y="3218688"/>
            <a:ext cx="1874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white-label license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150–300/month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903720" y="2834640"/>
            <a:ext cx="2057400" cy="182880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03720" y="2834640"/>
            <a:ext cx="2057400" cy="347472"/>
          </a:xfrm>
          <a:prstGeom prst="rect">
            <a:avLst/>
          </a:prstGeom>
          <a:solidFill>
            <a:srgbClr val="9A7030"/>
          </a:solidFill>
          <a:ln w="12700">
            <a:solidFill>
              <a:srgbClr val="9A70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0" y="28346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69480" y="2834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Operators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Agencies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95160" y="3218688"/>
            <a:ext cx="1874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enterprise pricing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Mid-to-high income tourists, aged 25–55  ·  Key regions: Muscat · Salalah · Nizwa · Sur · Masirah Island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— The 4Ps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2039112" cy="406908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2039112" cy="91440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102412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8745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guide (Arabic + English)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local LLM (Qwen2.5)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cards with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session sharing feature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web 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50592" y="896112"/>
            <a:ext cx="2039112" cy="406908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896112"/>
            <a:ext cx="2039112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89611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108960" y="102412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42032" y="1874520"/>
            <a:ext cx="18745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20 queries/day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Premium: OMR 2/day or OMR 5/week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Hotel License: OMR 150–300/month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(tourism boards): Custom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discount: 2 months free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896112"/>
            <a:ext cx="2039112" cy="406908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896112"/>
            <a:ext cx="2039112" cy="91440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89611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285232" y="102412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18304" y="1874520"/>
            <a:ext cx="18745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travlo.om (Oman TRA domain)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kiosk deployment at reception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information points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&amp; booking platform partnerships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cards in tourist areas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03136" y="896112"/>
            <a:ext cx="2039112" cy="406908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896112"/>
            <a:ext cx="2039112" cy="914400"/>
          </a:xfrm>
          <a:prstGeom prst="rect">
            <a:avLst/>
          </a:prstGeom>
          <a:solidFill>
            <a:srgbClr val="9A7030"/>
          </a:solidFill>
          <a:ln w="12700">
            <a:solidFill>
              <a:srgbClr val="9A7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89611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7461504" y="102412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1874520"/>
            <a:ext cx="18745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TikTok tourism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Tourism Expo partnerships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concierge referral program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Ads: 'Oman travel guide'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Tourism co-promotion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914400"/>
            <a:ext cx="3200400" cy="8686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932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Technical Director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316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Project — Full-Stack Developer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44568" y="1783080"/>
            <a:ext cx="54864" cy="4114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176272"/>
            <a:ext cx="6492240" cy="54864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176272"/>
            <a:ext cx="54864" cy="4114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176272"/>
            <a:ext cx="54864" cy="4114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176272"/>
            <a:ext cx="54864" cy="4114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176272"/>
            <a:ext cx="54864" cy="4114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87752"/>
            <a:ext cx="2039112" cy="96012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3347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API Routes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50592" y="2587752"/>
            <a:ext cx="2039112" cy="96012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63347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42032" y="2980944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2587752"/>
            <a:ext cx="2039112" cy="96012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63347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2980944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Nginx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Cloud Hosting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03136" y="2587752"/>
            <a:ext cx="2039112" cy="960120"/>
          </a:xfrm>
          <a:prstGeom prst="rect">
            <a:avLst/>
          </a:prstGeom>
          <a:solidFill>
            <a:srgbClr val="E8F4F5"/>
          </a:solidFill>
          <a:ln w="12700">
            <a:solidFill>
              <a:srgbClr val="B0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263347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94576" y="2980944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Pricing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OUTSOURCING — Year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2743200" cy="594360"/>
          </a:xfrm>
          <a:prstGeom prst="rect">
            <a:avLst/>
          </a:prstGeom>
          <a:solidFill>
            <a:srgbClr val="F8FBF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 (Freelance)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4114800"/>
            <a:ext cx="2743200" cy="594360"/>
          </a:xfrm>
          <a:prstGeom prst="rect">
            <a:avLst/>
          </a:prstGeom>
          <a:solidFill>
            <a:srgbClr val="F8FBFC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Specialist  (Part-time)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114800"/>
            <a:ext cx="2743200" cy="594360"/>
          </a:xfrm>
          <a:prstGeom prst="rect">
            <a:avLst/>
          </a:prstGeom>
          <a:solidFill>
            <a:srgbClr val="F8FBFC"/>
          </a:solidFill>
          <a:ln w="12700">
            <a:solidFill>
              <a:srgbClr val="9A7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 (Part-time)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alignment: Oman Digital Economy Authority (DECA) guidelines &amp; Oman Vision 2040 targets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Process &amp; System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397764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Tourist Device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691640"/>
            <a:ext cx="27432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19656"/>
            <a:ext cx="3977640" cy="45720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196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(:80)  — SSL + Rate Limit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2276856"/>
            <a:ext cx="27432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04872"/>
            <a:ext cx="3977640" cy="457200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048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(:3000)  — App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2862072"/>
            <a:ext cx="27432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90088"/>
            <a:ext cx="39776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90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(:11434)  — Qwen2.5:3b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3447288"/>
            <a:ext cx="274320" cy="1280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75304"/>
            <a:ext cx="397764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753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(:27017)  — Cache / Sessions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1879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on private Docker network: travlo_net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886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289304"/>
            <a:ext cx="347472" cy="347472"/>
          </a:xfrm>
          <a:prstGeom prst="ellipse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1234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visits travlo.om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819656"/>
            <a:ext cx="347472" cy="347472"/>
          </a:xfrm>
          <a:prstGeom prst="ellipse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47488" y="17647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Voice/text input captured (Web Speech API)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350008"/>
            <a:ext cx="347472" cy="347472"/>
          </a:xfrm>
          <a:prstGeom prst="ellipse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47488" y="229514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sanitized &amp; rate-limited (10 req/s per IP)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880360"/>
            <a:ext cx="347472" cy="347472"/>
          </a:xfrm>
          <a:prstGeom prst="ellipse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47488" y="28254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sent to local Ollama (Qwen2.5:3b)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410712"/>
            <a:ext cx="347472" cy="347472"/>
          </a:xfrm>
          <a:prstGeom prst="ellipse">
            <a:avLst/>
          </a:prstGeom>
          <a:solidFill>
            <a:srgbClr val="1A8A95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3355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structured JSON recommendations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941064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47488" y="38862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displayed + QR code generated for sharing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553712"/>
            <a:ext cx="85039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 Domain: travlo.om via Oman TRA (~OMR 40/yr)   ·   Hosting: Omantel Cloud VPS (~OMR 120/mo)   ·   SSL: Let's Encrypt (free)   ·   Backup: Daily MongoDB snapshots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&amp; Revenue Projections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&amp; OPERATING COSTS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9144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(OMR)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(in-house)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.om Domain — Oman 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Omantel Cloud VPS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Certificate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(Let's Encrypt)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/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~1,980 OMR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OpEx (ongoing)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~3,180 OMR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0" y="886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(OMR)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94960" y="1234440"/>
          <a:ext cx="34290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5394960" y="3703320"/>
            <a:ext cx="3429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0" y="37033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Break-even: Month 8 of Year 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480560"/>
            <a:ext cx="85039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streams: (1) Tourist Premium subscriptions  ·  (2) B2B hotel licensing  ·  (3) Enterprise tourism board contracts  |  Advantage: Zero LLM API fees via local Ollama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&amp; Mitigation Strategies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2471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097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LLM inaccurate tourism 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Curated knowledge base + confidence scoring + human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12471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3048" y="1097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Server downtime in Oman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Redundant VPS + Docker auto-restart + /api/health monitoring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100584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12471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57416" y="10972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0216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 user adoption in Year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0216" y="1874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Free tier + hotel pilot program + targeted social media ads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9067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0632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Google/TripAdvisor adds voice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Oman-specific depth + Arabic-first UX + privacy positioning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64408" y="297180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09067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3048" y="30632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Revenue growth slower than forecast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55848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Bootstrap model — zero API costs, low burn rate, flexible pricing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08776" y="2971800"/>
            <a:ext cx="2761488" cy="1783080"/>
          </a:xfrm>
          <a:prstGeom prst="rect">
            <a:avLst/>
          </a:prstGeom>
          <a:solidFill>
            <a:srgbClr val="0A4A50"/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0216" y="309067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57416" y="30632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0216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Oman PDPL compliance requirements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0216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All data in Oman · no personal data exported · PDPL alignment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Travlo Business Plan</dc:title>
  <dc:subject>PptxGenJS Presentation</dc:subject>
  <dc:creator>Travlo</dc:creator>
  <cp:lastModifiedBy>Travlo</cp:lastModifiedBy>
  <cp:revision>1</cp:revision>
  <dcterms:created xsi:type="dcterms:W3CDTF">2026-06-06T18:49:14Z</dcterms:created>
  <dcterms:modified xsi:type="dcterms:W3CDTF">2026-06-06T18:49:14Z</dcterms:modified>
</cp:coreProperties>
</file>